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handoutMasterIdLst>
    <p:handoutMasterId r:id="rId15"/>
  </p:handoutMasterIdLst>
  <p:sldIdLst>
    <p:sldId id="275" r:id="rId2"/>
    <p:sldId id="388" r:id="rId3"/>
    <p:sldId id="390" r:id="rId4"/>
    <p:sldId id="391" r:id="rId5"/>
    <p:sldId id="392" r:id="rId6"/>
    <p:sldId id="393" r:id="rId7"/>
    <p:sldId id="394" r:id="rId8"/>
    <p:sldId id="395" r:id="rId9"/>
    <p:sldId id="396" r:id="rId10"/>
    <p:sldId id="397" r:id="rId11"/>
    <p:sldId id="398" r:id="rId12"/>
    <p:sldId id="301"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590" autoAdjust="0"/>
  </p:normalViewPr>
  <p:slideViewPr>
    <p:cSldViewPr>
      <p:cViewPr>
        <p:scale>
          <a:sx n="75" d="100"/>
          <a:sy n="75" d="100"/>
        </p:scale>
        <p:origin x="1685"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pPr/>
              <a:t>9/22/2026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pPr/>
              <a:t>‹#›</a:t>
            </a:fld>
            <a:endParaRPr lang="en-US"/>
          </a:p>
        </p:txBody>
      </p:sp>
    </p:spTree>
    <p:extLst>
      <p:ext uri="{BB962C8B-B14F-4D97-AF65-F5344CB8AC3E}">
        <p14:creationId xmlns:p14="http://schemas.microsoft.com/office/powerpoint/2010/main" val="2392314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pPr/>
              <a:t>9/22/2026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pPr/>
              <a:t>‹#›</a:t>
            </a:fld>
            <a:endParaRPr lang="en-US"/>
          </a:p>
        </p:txBody>
      </p:sp>
    </p:spTree>
    <p:extLst>
      <p:ext uri="{BB962C8B-B14F-4D97-AF65-F5344CB8AC3E}">
        <p14:creationId xmlns:p14="http://schemas.microsoft.com/office/powerpoint/2010/main" val="798616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a:t>
            </a:fld>
            <a:endParaRPr lang="en-US"/>
          </a:p>
        </p:txBody>
      </p:sp>
    </p:spTree>
    <p:extLst>
      <p:ext uri="{BB962C8B-B14F-4D97-AF65-F5344CB8AC3E}">
        <p14:creationId xmlns:p14="http://schemas.microsoft.com/office/powerpoint/2010/main" val="2747739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22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969781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22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383148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22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24409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22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0179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22 September 2026</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240346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22 September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8801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22 September 2026</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35288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22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392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22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45226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22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05004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22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066861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22 September 2026</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1_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61722" y="64008"/>
            <a:ext cx="9011412" cy="5120639"/>
          </a:xfrm>
        </p:spPr>
        <p:txBody>
          <a:bodyPr>
            <a:normAutofit/>
          </a:bodyPr>
          <a:lstStyle>
            <a:lvl1pPr>
              <a:defRPr sz="825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816102" y="5360878"/>
            <a:ext cx="7527798" cy="566928"/>
          </a:xfrm>
        </p:spPr>
        <p:txBody>
          <a:bodyPr anchor="b" anchorCtr="0">
            <a:normAutofit/>
          </a:bodyPr>
          <a:lstStyle>
            <a:lvl1pPr marL="0" indent="0" algn="r">
              <a:lnSpc>
                <a:spcPct val="100000"/>
              </a:lnSpc>
              <a:buNone/>
              <a:defRPr sz="15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r>
              <a:rPr lang="en-US"/>
              <a:t>School of Computing - CSE</a:t>
            </a:r>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484D4881-3C1B-4E10-8E47-87CE42F43D14}" type="datetime3">
              <a:rPr lang="en-US" smtClean="0"/>
              <a:t>22 September 2026</a:t>
            </a:fld>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4136033492"/>
      </p:ext>
    </p:extLst>
  </p:cSld>
  <p:clrMapOvr>
    <a:masterClrMapping/>
  </p:clrMapOvr>
  <p:hf hdr="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22 September 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315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50" r:id="rId12"/>
    <p:sldLayoutId id="2147483789" r:id="rId13"/>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title"/>
          </p:nvPr>
        </p:nvSpPr>
        <p:spPr>
          <a:xfrm>
            <a:off x="571500" y="449944"/>
            <a:ext cx="7772400" cy="3505199"/>
          </a:xfrm>
        </p:spPr>
        <p:txBody>
          <a:bodyPr>
            <a:normAutofit/>
          </a:bodyPr>
          <a:lstStyle/>
          <a:p>
            <a:br>
              <a:rPr lang="en-IN" sz="2000" dirty="0">
                <a:solidFill>
                  <a:schemeClr val="accent1">
                    <a:lumMod val="50000"/>
                  </a:schemeClr>
                </a:solidFill>
                <a:latin typeface="Arial" pitchFamily="34" charset="0"/>
                <a:cs typeface="Arial" pitchFamily="34" charset="0"/>
              </a:rPr>
            </a:br>
            <a:br>
              <a:rPr lang="en-IN" sz="2400" dirty="0">
                <a:solidFill>
                  <a:schemeClr val="accent1">
                    <a:lumMod val="50000"/>
                  </a:schemeClr>
                </a:solidFill>
                <a:latin typeface="Arial" pitchFamily="34" charset="0"/>
                <a:cs typeface="Arial" pitchFamily="34" charset="0"/>
              </a:rPr>
            </a:br>
            <a:endParaRPr lang="en-US" sz="2400" dirty="0">
              <a:solidFill>
                <a:schemeClr val="accent1">
                  <a:lumMod val="50000"/>
                </a:schemeClr>
              </a:solidFill>
              <a:latin typeface="Arial" pitchFamily="34" charset="0"/>
              <a:cs typeface="Arial" pitchFamily="34" charset="0"/>
            </a:endParaRPr>
          </a:p>
        </p:txBody>
      </p:sp>
      <p:sp>
        <p:nvSpPr>
          <p:cNvPr id="17" name="Subtitle 2"/>
          <p:cNvSpPr>
            <a:spLocks noGrp="1"/>
          </p:cNvSpPr>
          <p:nvPr>
            <p:ph type="subTitle" idx="1"/>
          </p:nvPr>
        </p:nvSpPr>
        <p:spPr>
          <a:xfrm>
            <a:off x="1293625" y="2850879"/>
            <a:ext cx="6709143" cy="1481130"/>
          </a:xfrm>
        </p:spPr>
        <p:txBody>
          <a:bodyPr>
            <a:normAutofit/>
          </a:bodyPr>
          <a:lstStyle/>
          <a:p>
            <a:pPr algn="ctr"/>
            <a:r>
              <a:rPr lang="en-US" sz="2400" dirty="0">
                <a:solidFill>
                  <a:schemeClr val="tx1"/>
                </a:solidFill>
                <a:latin typeface="Arial" pitchFamily="34" charset="0"/>
                <a:cs typeface="Arial" pitchFamily="34" charset="0"/>
              </a:rPr>
              <a:t>Smart Digital Payment Transaction Analytics and Monitoring Dashboard</a:t>
            </a:r>
            <a:endParaRPr lang="en-US" sz="2400" dirty="0">
              <a:solidFill>
                <a:srgbClr val="7030A0"/>
              </a:solidFill>
              <a:latin typeface="Arial" pitchFamily="34" charset="0"/>
              <a:cs typeface="Arial" pitchFamily="34" charset="0"/>
            </a:endParaRPr>
          </a:p>
        </p:txBody>
      </p:sp>
      <p:sp>
        <p:nvSpPr>
          <p:cNvPr id="6" name="Footer Placeholder 5"/>
          <p:cNvSpPr>
            <a:spLocks noGrp="1"/>
          </p:cNvSpPr>
          <p:nvPr>
            <p:ph type="ftr" sz="quarter" idx="11"/>
          </p:nvPr>
        </p:nvSpPr>
        <p:spPr/>
        <p:txBody>
          <a:bodyPr/>
          <a:lstStyle/>
          <a:p>
            <a:r>
              <a:rPr lang="en-US" dirty="0"/>
              <a:t>School of Computing - CSE</a:t>
            </a: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fld id="{264FFBAA-9A17-4F9A-B1BD-20F0F5B52AB6}" type="datetime3">
              <a:rPr lang="en-US" smtClean="0"/>
              <a:t>22 September 2026</a:t>
            </a:fld>
            <a:endParaRPr lang="en-US" dirty="0"/>
          </a:p>
        </p:txBody>
      </p:sp>
      <p:sp>
        <p:nvSpPr>
          <p:cNvPr id="5" name="Slide Number Placeholder 4"/>
          <p:cNvSpPr>
            <a:spLocks noGrp="1"/>
          </p:cNvSpPr>
          <p:nvPr>
            <p:ph type="sldNum" sz="quarter" idx="12"/>
          </p:nvPr>
        </p:nvSpPr>
        <p:spPr/>
        <p:txBody>
          <a:bodyPr/>
          <a:lstStyle/>
          <a:p>
            <a:fld id="{C0EC1BDC-9B67-430D-970A-E36C75175141}" type="slidenum">
              <a:rPr lang="en-US" smtClean="0"/>
              <a:pPr/>
              <a:t>1</a:t>
            </a:fld>
            <a:endParaRPr lang="en-US"/>
          </a:p>
        </p:txBody>
      </p:sp>
      <p:sp>
        <p:nvSpPr>
          <p:cNvPr id="14" name="TextBox 13">
            <a:extLst>
              <a:ext uri="{FF2B5EF4-FFF2-40B4-BE49-F238E27FC236}">
                <a16:creationId xmlns:a16="http://schemas.microsoft.com/office/drawing/2014/main" id="{41C8031F-DC64-6DA7-5E1D-856D8119A1D3}"/>
              </a:ext>
            </a:extLst>
          </p:cNvPr>
          <p:cNvSpPr txBox="1"/>
          <p:nvPr/>
        </p:nvSpPr>
        <p:spPr>
          <a:xfrm>
            <a:off x="342898" y="2245640"/>
            <a:ext cx="8610599" cy="1292662"/>
          </a:xfrm>
          <a:prstGeom prst="rect">
            <a:avLst/>
          </a:prstGeom>
          <a:noFill/>
        </p:spPr>
        <p:txBody>
          <a:bodyPr wrap="square">
            <a:spAutoFit/>
          </a:bodyPr>
          <a:lstStyle/>
          <a:p>
            <a:pPr algn="ctr"/>
            <a:endParaRPr lang="en-IN" sz="2000" b="1" dirty="0">
              <a:latin typeface="Arial" panose="020B0604020202020204" pitchFamily="34" charset="0"/>
              <a:cs typeface="Arial" panose="020B0604020202020204" pitchFamily="34" charset="0"/>
            </a:endParaRPr>
          </a:p>
          <a:p>
            <a:pPr algn="ctr"/>
            <a:r>
              <a:rPr lang="en-IN" sz="2000" b="1" dirty="0">
                <a:latin typeface="Arial" panose="020B0604020202020204" pitchFamily="34" charset="0"/>
                <a:cs typeface="Arial" panose="020B0604020202020204" pitchFamily="34" charset="0"/>
              </a:rPr>
              <a:t>DEPARTMENT OF COMPUTER SCIENCE AND ENGINEERING</a:t>
            </a:r>
          </a:p>
          <a:p>
            <a:pPr algn="ctr"/>
            <a:endParaRPr lang="en-IN" sz="2000" b="1" dirty="0">
              <a:latin typeface="Arial" panose="020B0604020202020204" pitchFamily="34" charset="0"/>
              <a:cs typeface="Arial" panose="020B0604020202020204" pitchFamily="34" charset="0"/>
            </a:endParaRPr>
          </a:p>
          <a:p>
            <a:pPr algn="ctr"/>
            <a:r>
              <a:rPr lang="en-US" b="1" dirty="0"/>
              <a:t>Professional Training I</a:t>
            </a:r>
          </a:p>
        </p:txBody>
      </p:sp>
      <p:sp>
        <p:nvSpPr>
          <p:cNvPr id="29" name="Subtitle 2">
            <a:extLst>
              <a:ext uri="{FF2B5EF4-FFF2-40B4-BE49-F238E27FC236}">
                <a16:creationId xmlns:a16="http://schemas.microsoft.com/office/drawing/2014/main" id="{431E86DB-7CEA-B3DC-1DF2-33457A550B1A}"/>
              </a:ext>
            </a:extLst>
          </p:cNvPr>
          <p:cNvSpPr txBox="1">
            <a:spLocks/>
          </p:cNvSpPr>
          <p:nvPr/>
        </p:nvSpPr>
        <p:spPr>
          <a:xfrm>
            <a:off x="457200" y="4901084"/>
            <a:ext cx="8381999" cy="1487883"/>
          </a:xfrm>
          <a:prstGeom prst="rect">
            <a:avLst/>
          </a:prstGeom>
        </p:spPr>
        <p:txBody>
          <a:bodyPr vert="horz" lIns="91440" tIns="45720" rIns="91440" bIns="45720" rtlCol="0">
            <a:normAutofit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400" b="1" dirty="0">
                <a:solidFill>
                  <a:schemeClr val="tx1"/>
                </a:solidFill>
              </a:rPr>
              <a:t>PROJECT STUDENT                                                 GUIDE</a:t>
            </a:r>
          </a:p>
          <a:p>
            <a:r>
              <a:rPr lang="en-US" sz="2000" b="1" dirty="0">
                <a:solidFill>
                  <a:schemeClr val="tx1"/>
                </a:solidFill>
                <a:latin typeface="Arial" panose="020B0604020202020204" pitchFamily="34" charset="0"/>
                <a:cs typeface="Arial" panose="020B0604020202020204" pitchFamily="34" charset="0"/>
              </a:rPr>
              <a:t>  </a:t>
            </a:r>
            <a:r>
              <a:rPr lang="en-US" sz="1800" b="1" dirty="0">
                <a:solidFill>
                  <a:schemeClr val="tx1"/>
                </a:solidFill>
                <a:latin typeface="Arial" panose="020B0604020202020204" pitchFamily="34" charset="0"/>
                <a:cs typeface="Arial" panose="020B0604020202020204" pitchFamily="34" charset="0"/>
              </a:rPr>
              <a:t>S LAJITHAN 44110407                                     </a:t>
            </a:r>
            <a:r>
              <a:rPr lang="en-US" sz="1800" b="1" dirty="0" err="1">
                <a:solidFill>
                  <a:schemeClr val="tx1"/>
                </a:solidFill>
                <a:latin typeface="Arial" panose="020B0604020202020204" pitchFamily="34" charset="0"/>
                <a:cs typeface="Arial" panose="020B0604020202020204" pitchFamily="34" charset="0"/>
              </a:rPr>
              <a:t>Ms.D.Aishwarya,M.E,Ph.D</a:t>
            </a:r>
            <a:r>
              <a:rPr lang="en-US" sz="1800" b="1" dirty="0">
                <a:solidFill>
                  <a:schemeClr val="tx1"/>
                </a:solidFill>
                <a:latin typeface="Arial" panose="020B0604020202020204" pitchFamily="34" charset="0"/>
                <a:cs typeface="Arial" panose="020B0604020202020204" pitchFamily="34" charset="0"/>
              </a:rPr>
              <a:t>,</a:t>
            </a:r>
          </a:p>
          <a:p>
            <a:r>
              <a:rPr lang="en-US" sz="2000" b="1" dirty="0">
                <a:solidFill>
                  <a:schemeClr val="tx1"/>
                </a:solidFill>
              </a:rPr>
              <a:t>  M LARUN NISHAN 44110412                          DR. S. </a:t>
            </a:r>
            <a:r>
              <a:rPr lang="en-US" sz="2000" b="1" dirty="0" err="1">
                <a:solidFill>
                  <a:schemeClr val="tx1"/>
                </a:solidFill>
              </a:rPr>
              <a:t>Pothumani</a:t>
            </a:r>
            <a:r>
              <a:rPr lang="en-US" sz="2000" b="1" dirty="0">
                <a:solidFill>
                  <a:schemeClr val="tx1"/>
                </a:solidFill>
              </a:rPr>
              <a:t>, M.E., Ph.D., 					Associate Professors, CSE</a:t>
            </a:r>
          </a:p>
          <a:p>
            <a:pPr algn="l"/>
            <a:endParaRPr lang="en-GB" sz="2000" b="1" dirty="0">
              <a:solidFill>
                <a:schemeClr val="tx1"/>
              </a:solidFill>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352" y="319093"/>
            <a:ext cx="8496301" cy="20431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AGENDA</a:t>
            </a:r>
          </a:p>
        </p:txBody>
      </p:sp>
      <p:sp>
        <p:nvSpPr>
          <p:cNvPr id="3" name="Content Placeholder 2"/>
          <p:cNvSpPr>
            <a:spLocks noGrp="1"/>
          </p:cNvSpPr>
          <p:nvPr>
            <p:ph idx="1"/>
          </p:nvPr>
        </p:nvSpPr>
        <p:spPr/>
        <p:txBody>
          <a:bodyPr>
            <a:normAutofit lnSpcReduction="10000"/>
          </a:bodyPr>
          <a:lstStyle/>
          <a:p>
            <a:r>
              <a:rPr lang="en-US" dirty="0"/>
              <a:t>Certificate</a:t>
            </a:r>
          </a:p>
          <a:p>
            <a:r>
              <a:rPr lang="en-US" dirty="0"/>
              <a:t>Abstract</a:t>
            </a:r>
          </a:p>
          <a:p>
            <a:r>
              <a:rPr lang="en-US" dirty="0"/>
              <a:t>Introduction</a:t>
            </a:r>
          </a:p>
          <a:p>
            <a:r>
              <a:rPr lang="en-US" dirty="0"/>
              <a:t>Objective</a:t>
            </a:r>
          </a:p>
          <a:p>
            <a:r>
              <a:rPr lang="en-US" dirty="0"/>
              <a:t>System Architecture / Ideation Map</a:t>
            </a:r>
          </a:p>
          <a:p>
            <a:r>
              <a:rPr lang="en-US" dirty="0"/>
              <a:t>Module Implementation</a:t>
            </a:r>
          </a:p>
          <a:p>
            <a:r>
              <a:rPr lang="en-US" dirty="0"/>
              <a:t>Results and Discussions</a:t>
            </a:r>
          </a:p>
          <a:p>
            <a:r>
              <a:rPr lang="en-US" dirty="0"/>
              <a:t>Conclusion</a:t>
            </a:r>
          </a:p>
          <a:p>
            <a:pPr marL="0" indent="0">
              <a:buNone/>
            </a:pPr>
            <a:endParaRPr lang="en-US" dirty="0"/>
          </a:p>
          <a:p>
            <a:pPr marL="0" indent="0">
              <a:buNone/>
            </a:pPr>
            <a:endParaRPr lang="en-US" dirty="0"/>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B7275DB-6D13-480B-AC77-F5019BDC5287}" type="datetime3">
              <a:rPr lang="en-US" smtClean="0"/>
              <a:t>22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a:t>
            </a:fld>
            <a:endParaRPr lang="en-US"/>
          </a:p>
        </p:txBody>
      </p:sp>
    </p:spTree>
    <p:extLst>
      <p:ext uri="{BB962C8B-B14F-4D97-AF65-F5344CB8AC3E}">
        <p14:creationId xmlns:p14="http://schemas.microsoft.com/office/powerpoint/2010/main" val="3440899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r>
              <a:rPr lang="en-US" sz="3600" dirty="0"/>
              <a:t>COURSE CERTIFICATE</a:t>
            </a:r>
          </a:p>
        </p:txBody>
      </p:sp>
      <p:sp>
        <p:nvSpPr>
          <p:cNvPr id="4" name="Content Placeholder 3"/>
          <p:cNvSpPr>
            <a:spLocks noGrp="1"/>
          </p:cNvSpPr>
          <p:nvPr>
            <p:ph idx="1"/>
          </p:nvPr>
        </p:nvSpPr>
        <p:spPr/>
        <p:txBody>
          <a:bodyPr/>
          <a:lstStyle/>
          <a:p>
            <a:endParaRPr lang="en-US"/>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fld id="{7B28076C-CE04-4A00-BFAA-A90EA8355859}" type="slidenum">
              <a:rPr lang="en-US" smtClean="0"/>
              <a:pPr/>
              <a:t>3</a:t>
            </a:fld>
            <a:endParaRPr lang="en-US" dirty="0"/>
          </a:p>
        </p:txBody>
      </p:sp>
    </p:spTree>
    <p:extLst>
      <p:ext uri="{BB962C8B-B14F-4D97-AF65-F5344CB8AC3E}">
        <p14:creationId xmlns:p14="http://schemas.microsoft.com/office/powerpoint/2010/main" val="4270359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F16AC-5AF7-E782-C5A4-80A151DCD9AA}"/>
              </a:ext>
            </a:extLst>
          </p:cNvPr>
          <p:cNvSpPr>
            <a:spLocks noGrp="1"/>
          </p:cNvSpPr>
          <p:nvPr>
            <p:ph type="title"/>
          </p:nvPr>
        </p:nvSpPr>
        <p:spPr>
          <a:xfrm>
            <a:off x="298940" y="228600"/>
            <a:ext cx="8616460" cy="1143000"/>
          </a:xfrm>
        </p:spPr>
        <p:txBody>
          <a:bodyPr>
            <a:normAutofit fontScale="90000"/>
          </a:bodyPr>
          <a:lstStyle/>
          <a:p>
            <a:br>
              <a:rPr lang="en-US" sz="4900" dirty="0"/>
            </a:br>
            <a:r>
              <a:rPr lang="en-US" sz="4000" dirty="0"/>
              <a:t>ABSTRACT</a:t>
            </a:r>
            <a:br>
              <a:rPr lang="en-US" dirty="0"/>
            </a:br>
            <a:endParaRPr lang="en-US" dirty="0"/>
          </a:p>
        </p:txBody>
      </p:sp>
      <p:sp>
        <p:nvSpPr>
          <p:cNvPr id="3" name="Content Placeholder 2">
            <a:extLst>
              <a:ext uri="{FF2B5EF4-FFF2-40B4-BE49-F238E27FC236}">
                <a16:creationId xmlns:a16="http://schemas.microsoft.com/office/drawing/2014/main" id="{B29D034E-F649-1177-01E0-085C07500BD7}"/>
              </a:ext>
            </a:extLst>
          </p:cNvPr>
          <p:cNvSpPr>
            <a:spLocks noGrp="1"/>
          </p:cNvSpPr>
          <p:nvPr>
            <p:ph idx="1"/>
          </p:nvPr>
        </p:nvSpPr>
        <p:spPr/>
        <p:txBody>
          <a:bodyPr>
            <a:normAutofit fontScale="25000" lnSpcReduction="20000"/>
          </a:bodyPr>
          <a:lstStyle/>
          <a:p>
            <a:pPr marL="0" indent="0" algn="just">
              <a:buNone/>
            </a:pPr>
            <a:endParaRPr lang="en-US" sz="3100" dirty="0">
              <a:latin typeface="Arial" panose="020B0604020202020204" pitchFamily="34" charset="0"/>
              <a:cs typeface="Arial" panose="020B0604020202020204" pitchFamily="34" charset="0"/>
            </a:endParaRPr>
          </a:p>
          <a:p>
            <a:pPr marL="0" indent="0" algn="just">
              <a:buNone/>
            </a:pPr>
            <a:r>
              <a:rPr lang="en-US" sz="9600" dirty="0"/>
              <a:t>The Smart Digital Payment Transaction Analytics and Monitoring Dashboard is designed to analyze and monitor digital payment transactions efficiently. It collects important transaction details such as amount, date, time, payment method, and transaction status. The system processes transaction data to identify trends, patterns, and payment performance. An interactive dashboard presents the information using charts, graphs, tables, and key performance indicators. It helps users easily track successful, failed, and pending </a:t>
            </a:r>
            <a:r>
              <a:rPr lang="en-US" sz="9600" dirty="0" err="1"/>
              <a:t>transactions.Real</a:t>
            </a:r>
            <a:r>
              <a:rPr lang="en-US" sz="9600" dirty="0"/>
              <a:t>-time or regularly updated data enables quick monitoring of payment </a:t>
            </a:r>
            <a:r>
              <a:rPr lang="en-US" sz="9600" dirty="0" err="1"/>
              <a:t>activities.The</a:t>
            </a:r>
            <a:r>
              <a:rPr lang="en-US" sz="9600" dirty="0"/>
              <a:t> dashboard supports better decision-making through clear and meaningful visual insights. Overall, the proposed system provides a smart, centralized, and user-friendly solution for digital payment transaction analytics.</a:t>
            </a:r>
          </a:p>
          <a:p>
            <a:endParaRPr lang="en-US" dirty="0"/>
          </a:p>
        </p:txBody>
      </p:sp>
      <p:sp>
        <p:nvSpPr>
          <p:cNvPr id="4" name="Date Placeholder 3">
            <a:extLst>
              <a:ext uri="{FF2B5EF4-FFF2-40B4-BE49-F238E27FC236}">
                <a16:creationId xmlns:a16="http://schemas.microsoft.com/office/drawing/2014/main" id="{4EE36648-59F3-0751-B213-236A724949C6}"/>
              </a:ext>
            </a:extLst>
          </p:cNvPr>
          <p:cNvSpPr>
            <a:spLocks noGrp="1"/>
          </p:cNvSpPr>
          <p:nvPr>
            <p:ph type="dt" sz="half" idx="10"/>
          </p:nvPr>
        </p:nvSpPr>
        <p:spPr/>
        <p:txBody>
          <a:bodyPr/>
          <a:lstStyle/>
          <a:p>
            <a:fld id="{EB7275DB-6D13-480B-AC77-F5019BDC5287}" type="datetime3">
              <a:rPr lang="en-US" smtClean="0"/>
              <a:t>22 September 2026</a:t>
            </a:fld>
            <a:endParaRPr lang="en-US"/>
          </a:p>
        </p:txBody>
      </p:sp>
      <p:sp>
        <p:nvSpPr>
          <p:cNvPr id="5" name="Footer Placeholder 4">
            <a:extLst>
              <a:ext uri="{FF2B5EF4-FFF2-40B4-BE49-F238E27FC236}">
                <a16:creationId xmlns:a16="http://schemas.microsoft.com/office/drawing/2014/main" id="{4B6B67C1-15D2-BFCA-DA78-D6BED01DD02F}"/>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49870D98-513C-BDA8-34CE-C28D12C5AFA1}"/>
              </a:ext>
            </a:extLst>
          </p:cNvPr>
          <p:cNvSpPr>
            <a:spLocks noGrp="1"/>
          </p:cNvSpPr>
          <p:nvPr>
            <p:ph type="sldNum" sz="quarter" idx="12"/>
          </p:nvPr>
        </p:nvSpPr>
        <p:spPr/>
        <p:txBody>
          <a:bodyPr/>
          <a:lstStyle/>
          <a:p>
            <a:fld id="{7B28076C-CE04-4A00-BFAA-A90EA8355859}" type="slidenum">
              <a:rPr lang="en-US" smtClean="0"/>
              <a:pPr/>
              <a:t>4</a:t>
            </a:fld>
            <a:endParaRPr lang="en-US"/>
          </a:p>
        </p:txBody>
      </p:sp>
    </p:spTree>
    <p:extLst>
      <p:ext uri="{BB962C8B-B14F-4D97-AF65-F5344CB8AC3E}">
        <p14:creationId xmlns:p14="http://schemas.microsoft.com/office/powerpoint/2010/main" val="1477268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DB2FA-5019-C18B-8A02-8DD9C7E6E8F1}"/>
              </a:ext>
            </a:extLst>
          </p:cNvPr>
          <p:cNvSpPr>
            <a:spLocks noGrp="1"/>
          </p:cNvSpPr>
          <p:nvPr>
            <p:ph type="title"/>
          </p:nvPr>
        </p:nvSpPr>
        <p:spPr/>
        <p:txBody>
          <a:bodyPr>
            <a:normAutofit fontScale="90000"/>
          </a:bodyPr>
          <a:lstStyle/>
          <a:p>
            <a:br>
              <a:rPr lang="en-US" dirty="0"/>
            </a:br>
            <a:r>
              <a:rPr lang="en-US" sz="4000" dirty="0"/>
              <a:t>INTRODUCTION</a:t>
            </a:r>
            <a:br>
              <a:rPr lang="en-US" sz="4000" dirty="0"/>
            </a:br>
            <a:endParaRPr lang="en-US" sz="4000" dirty="0"/>
          </a:p>
        </p:txBody>
      </p:sp>
      <p:sp>
        <p:nvSpPr>
          <p:cNvPr id="3" name="Content Placeholder 2">
            <a:extLst>
              <a:ext uri="{FF2B5EF4-FFF2-40B4-BE49-F238E27FC236}">
                <a16:creationId xmlns:a16="http://schemas.microsoft.com/office/drawing/2014/main" id="{46BCC2EF-3460-1292-0DD6-51B294165416}"/>
              </a:ext>
            </a:extLst>
          </p:cNvPr>
          <p:cNvSpPr>
            <a:spLocks noGrp="1"/>
          </p:cNvSpPr>
          <p:nvPr>
            <p:ph idx="1"/>
          </p:nvPr>
        </p:nvSpPr>
        <p:spPr>
          <a:xfrm>
            <a:off x="469490" y="1371600"/>
            <a:ext cx="8217310" cy="4800600"/>
          </a:xfrm>
        </p:spPr>
        <p:txBody>
          <a:bodyPr>
            <a:normAutofit fontScale="70000" lnSpcReduction="20000"/>
          </a:bodyPr>
          <a:lstStyle/>
          <a:p>
            <a:r>
              <a:rPr lang="en-US" sz="2800" b="1" dirty="0"/>
              <a:t>Introduction – Digital Payment Transaction Analytics Dashboard</a:t>
            </a:r>
          </a:p>
          <a:p>
            <a:pPr lvl="0"/>
            <a:r>
              <a:rPr lang="en-US" sz="2800" dirty="0"/>
              <a:t>Digital payments are widely used for fast and convenient transactions.</a:t>
            </a:r>
          </a:p>
          <a:p>
            <a:pPr lvl="0"/>
            <a:r>
              <a:rPr lang="en-US" sz="2800" dirty="0"/>
              <a:t>Managing a large number of transactions manually can be difficult.</a:t>
            </a:r>
          </a:p>
          <a:p>
            <a:pPr lvl="0"/>
            <a:r>
              <a:rPr lang="en-US" sz="2800" dirty="0"/>
              <a:t>The dashboard collects important payment details such as amount, date, time, and payment method.</a:t>
            </a:r>
          </a:p>
          <a:p>
            <a:pPr lvl="0">
              <a:lnSpc>
                <a:spcPct val="120000"/>
              </a:lnSpc>
            </a:pPr>
            <a:r>
              <a:rPr lang="en-US" dirty="0"/>
              <a:t>It analyzes transactions to identify useful patterns and trends.</a:t>
            </a:r>
          </a:p>
          <a:p>
            <a:pPr lvl="0"/>
            <a:r>
              <a:rPr lang="en-US" sz="2800" dirty="0"/>
              <a:t>Successful, failed, and pending transactions can be monitored easily.</a:t>
            </a:r>
          </a:p>
          <a:p>
            <a:pPr lvl="0"/>
            <a:r>
              <a:rPr lang="en-US" sz="2800" dirty="0"/>
              <a:t>Charts and graphs provide a simple visual view of payment activities.</a:t>
            </a:r>
          </a:p>
          <a:p>
            <a:pPr lvl="0"/>
            <a:r>
              <a:rPr lang="en-US" sz="2800" dirty="0"/>
              <a:t>Key performance indicators help users understand transaction performance.</a:t>
            </a:r>
          </a:p>
          <a:p>
            <a:pPr lvl="0"/>
            <a:r>
              <a:rPr lang="en-US" sz="2800" dirty="0"/>
              <a:t>The dashboard supports quick identification of unusual or failed transactions.</a:t>
            </a:r>
          </a:p>
          <a:p>
            <a:pPr lvl="0"/>
            <a:r>
              <a:rPr lang="en-US" sz="2800" dirty="0"/>
              <a:t>Regularly updated data helps users monitor recent payment activities.</a:t>
            </a:r>
          </a:p>
          <a:p>
            <a:pPr lvl="0"/>
            <a:r>
              <a:rPr lang="en-US" sz="2800" dirty="0"/>
              <a:t>Overall, the system provides a </a:t>
            </a:r>
            <a:r>
              <a:rPr lang="en-US" sz="2800" b="1" dirty="0"/>
              <a:t>simple, centralized, and data-driven way to understand digital payment transactions</a:t>
            </a:r>
            <a:r>
              <a:rPr lang="en-US" sz="2800" dirty="0"/>
              <a:t>.</a:t>
            </a:r>
          </a:p>
          <a:p>
            <a:pPr marL="0" indent="0">
              <a:buNone/>
            </a:pPr>
            <a:endParaRPr lang="en-US" dirty="0"/>
          </a:p>
        </p:txBody>
      </p:sp>
      <p:sp>
        <p:nvSpPr>
          <p:cNvPr id="4" name="Date Placeholder 3">
            <a:extLst>
              <a:ext uri="{FF2B5EF4-FFF2-40B4-BE49-F238E27FC236}">
                <a16:creationId xmlns:a16="http://schemas.microsoft.com/office/drawing/2014/main" id="{A1138276-ED60-7647-776F-8C2407F12508}"/>
              </a:ext>
            </a:extLst>
          </p:cNvPr>
          <p:cNvSpPr>
            <a:spLocks noGrp="1"/>
          </p:cNvSpPr>
          <p:nvPr>
            <p:ph type="dt" sz="half" idx="10"/>
          </p:nvPr>
        </p:nvSpPr>
        <p:spPr/>
        <p:txBody>
          <a:bodyPr/>
          <a:lstStyle/>
          <a:p>
            <a:fld id="{EB7275DB-6D13-480B-AC77-F5019BDC5287}" type="datetime3">
              <a:rPr lang="en-US" smtClean="0"/>
              <a:t>22 September 2026</a:t>
            </a:fld>
            <a:endParaRPr lang="en-US"/>
          </a:p>
        </p:txBody>
      </p:sp>
      <p:sp>
        <p:nvSpPr>
          <p:cNvPr id="5" name="Footer Placeholder 4">
            <a:extLst>
              <a:ext uri="{FF2B5EF4-FFF2-40B4-BE49-F238E27FC236}">
                <a16:creationId xmlns:a16="http://schemas.microsoft.com/office/drawing/2014/main" id="{2B1FF476-B1F6-B54A-27EF-F7DCBCC0B24E}"/>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0C75FB41-A971-D4D8-E87D-C1F769DA1556}"/>
              </a:ext>
            </a:extLst>
          </p:cNvPr>
          <p:cNvSpPr>
            <a:spLocks noGrp="1"/>
          </p:cNvSpPr>
          <p:nvPr>
            <p:ph type="sldNum" sz="quarter" idx="12"/>
          </p:nvPr>
        </p:nvSpPr>
        <p:spPr/>
        <p:txBody>
          <a:bodyPr/>
          <a:lstStyle/>
          <a:p>
            <a:fld id="{7B28076C-CE04-4A00-BFAA-A90EA8355859}" type="slidenum">
              <a:rPr lang="en-US" smtClean="0"/>
              <a:pPr/>
              <a:t>5</a:t>
            </a:fld>
            <a:endParaRPr lang="en-US"/>
          </a:p>
        </p:txBody>
      </p:sp>
    </p:spTree>
    <p:extLst>
      <p:ext uri="{BB962C8B-B14F-4D97-AF65-F5344CB8AC3E}">
        <p14:creationId xmlns:p14="http://schemas.microsoft.com/office/powerpoint/2010/main" val="3204081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A7F53-22EE-C1E8-62F8-9EB33EA31814}"/>
              </a:ext>
            </a:extLst>
          </p:cNvPr>
          <p:cNvSpPr>
            <a:spLocks noGrp="1"/>
          </p:cNvSpPr>
          <p:nvPr>
            <p:ph type="title"/>
          </p:nvPr>
        </p:nvSpPr>
        <p:spPr/>
        <p:txBody>
          <a:bodyPr>
            <a:normAutofit fontScale="90000"/>
          </a:bodyPr>
          <a:lstStyle/>
          <a:p>
            <a:br>
              <a:rPr lang="en-US" dirty="0"/>
            </a:br>
            <a:r>
              <a:rPr lang="en-US" sz="4000" dirty="0"/>
              <a:t>OBJECTIVE</a:t>
            </a:r>
            <a:br>
              <a:rPr lang="en-US" dirty="0"/>
            </a:br>
            <a:endParaRPr lang="en-US" dirty="0"/>
          </a:p>
        </p:txBody>
      </p:sp>
      <p:sp>
        <p:nvSpPr>
          <p:cNvPr id="3" name="Content Placeholder 2">
            <a:extLst>
              <a:ext uri="{FF2B5EF4-FFF2-40B4-BE49-F238E27FC236}">
                <a16:creationId xmlns:a16="http://schemas.microsoft.com/office/drawing/2014/main" id="{5595B1A0-3192-821F-1329-E29CFD73B7A5}"/>
              </a:ext>
            </a:extLst>
          </p:cNvPr>
          <p:cNvSpPr>
            <a:spLocks noGrp="1"/>
          </p:cNvSpPr>
          <p:nvPr>
            <p:ph idx="1"/>
          </p:nvPr>
        </p:nvSpPr>
        <p:spPr/>
        <p:txBody>
          <a:bodyPr>
            <a:normAutofit/>
          </a:bodyPr>
          <a:lstStyle/>
          <a:p>
            <a:pPr lvl="0"/>
            <a:r>
              <a:rPr lang="en-US" sz="2400" b="1" dirty="0"/>
              <a:t>To analyze</a:t>
            </a:r>
            <a:r>
              <a:rPr lang="en-US" sz="2400" dirty="0"/>
              <a:t> digital payment transaction data efficiently and accurately. </a:t>
            </a:r>
          </a:p>
          <a:p>
            <a:pPr lvl="0"/>
            <a:r>
              <a:rPr lang="en-US" sz="2400" b="1" dirty="0"/>
              <a:t>To monitor</a:t>
            </a:r>
            <a:r>
              <a:rPr lang="en-US" sz="2400" dirty="0"/>
              <a:t> successful, failed, and pending transactions in a centralized dashboard. </a:t>
            </a:r>
          </a:p>
          <a:p>
            <a:pPr lvl="0"/>
            <a:r>
              <a:rPr lang="en-US" sz="2400" b="1" dirty="0"/>
              <a:t>To visualize</a:t>
            </a:r>
            <a:r>
              <a:rPr lang="en-US" sz="2400" dirty="0"/>
              <a:t> transaction trends using interactive charts, graphs, and tables. </a:t>
            </a:r>
          </a:p>
          <a:p>
            <a:pPr lvl="0"/>
            <a:r>
              <a:rPr lang="en-US" sz="2400" b="1" dirty="0"/>
              <a:t>To identify</a:t>
            </a:r>
            <a:r>
              <a:rPr lang="en-US" sz="2400" dirty="0"/>
              <a:t> unusual transaction patterns and potential suspicious activities. </a:t>
            </a:r>
          </a:p>
          <a:p>
            <a:pPr lvl="0"/>
            <a:r>
              <a:rPr lang="en-US" sz="2400" b="1" dirty="0"/>
              <a:t>To provide</a:t>
            </a:r>
            <a:r>
              <a:rPr lang="en-US" sz="2400" dirty="0"/>
              <a:t> meaningful insights for better and faster decision-making.</a:t>
            </a:r>
          </a:p>
          <a:p>
            <a:pPr marL="0" indent="0">
              <a:buNone/>
            </a:pPr>
            <a:endParaRPr lang="en-US" dirty="0"/>
          </a:p>
        </p:txBody>
      </p:sp>
      <p:sp>
        <p:nvSpPr>
          <p:cNvPr id="4" name="Date Placeholder 3">
            <a:extLst>
              <a:ext uri="{FF2B5EF4-FFF2-40B4-BE49-F238E27FC236}">
                <a16:creationId xmlns:a16="http://schemas.microsoft.com/office/drawing/2014/main" id="{1268EEE3-72FA-CD70-60C1-404F73CF4F9C}"/>
              </a:ext>
            </a:extLst>
          </p:cNvPr>
          <p:cNvSpPr>
            <a:spLocks noGrp="1"/>
          </p:cNvSpPr>
          <p:nvPr>
            <p:ph type="dt" sz="half" idx="10"/>
          </p:nvPr>
        </p:nvSpPr>
        <p:spPr/>
        <p:txBody>
          <a:bodyPr/>
          <a:lstStyle/>
          <a:p>
            <a:fld id="{EB7275DB-6D13-480B-AC77-F5019BDC5287}" type="datetime3">
              <a:rPr lang="en-US" smtClean="0"/>
              <a:t>22 September 2026</a:t>
            </a:fld>
            <a:endParaRPr lang="en-US"/>
          </a:p>
        </p:txBody>
      </p:sp>
      <p:sp>
        <p:nvSpPr>
          <p:cNvPr id="5" name="Footer Placeholder 4">
            <a:extLst>
              <a:ext uri="{FF2B5EF4-FFF2-40B4-BE49-F238E27FC236}">
                <a16:creationId xmlns:a16="http://schemas.microsoft.com/office/drawing/2014/main" id="{81D244AB-9DFB-538A-E9DC-97FCDE18707E}"/>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1C967F30-405A-9575-40F3-69CD01D8557D}"/>
              </a:ext>
            </a:extLst>
          </p:cNvPr>
          <p:cNvSpPr>
            <a:spLocks noGrp="1"/>
          </p:cNvSpPr>
          <p:nvPr>
            <p:ph type="sldNum" sz="quarter" idx="12"/>
          </p:nvPr>
        </p:nvSpPr>
        <p:spPr/>
        <p:txBody>
          <a:bodyPr/>
          <a:lstStyle/>
          <a:p>
            <a:fld id="{7B28076C-CE04-4A00-BFAA-A90EA8355859}" type="slidenum">
              <a:rPr lang="en-US" smtClean="0"/>
              <a:pPr/>
              <a:t>6</a:t>
            </a:fld>
            <a:endParaRPr lang="en-US"/>
          </a:p>
        </p:txBody>
      </p:sp>
    </p:spTree>
    <p:extLst>
      <p:ext uri="{BB962C8B-B14F-4D97-AF65-F5344CB8AC3E}">
        <p14:creationId xmlns:p14="http://schemas.microsoft.com/office/powerpoint/2010/main" val="4148157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613F3-AF17-CCFE-7877-D6B0DDFD4944}"/>
              </a:ext>
            </a:extLst>
          </p:cNvPr>
          <p:cNvSpPr>
            <a:spLocks noGrp="1"/>
          </p:cNvSpPr>
          <p:nvPr>
            <p:ph type="title"/>
          </p:nvPr>
        </p:nvSpPr>
        <p:spPr/>
        <p:txBody>
          <a:bodyPr>
            <a:normAutofit fontScale="90000"/>
          </a:bodyPr>
          <a:lstStyle/>
          <a:p>
            <a:br>
              <a:rPr lang="en-US" dirty="0"/>
            </a:br>
            <a:r>
              <a:rPr lang="en-US" sz="4000" dirty="0"/>
              <a:t>SYSTEM ARCHITECTURE / IDEATION MAP</a:t>
            </a:r>
            <a:br>
              <a:rPr lang="en-US" sz="4000" dirty="0"/>
            </a:br>
            <a:endParaRPr lang="en-US" sz="4000" dirty="0"/>
          </a:p>
        </p:txBody>
      </p:sp>
      <p:sp>
        <p:nvSpPr>
          <p:cNvPr id="4" name="Date Placeholder 3">
            <a:extLst>
              <a:ext uri="{FF2B5EF4-FFF2-40B4-BE49-F238E27FC236}">
                <a16:creationId xmlns:a16="http://schemas.microsoft.com/office/drawing/2014/main" id="{90B49B91-7B3D-B76E-EDDB-87BAE4B793EA}"/>
              </a:ext>
            </a:extLst>
          </p:cNvPr>
          <p:cNvSpPr>
            <a:spLocks noGrp="1"/>
          </p:cNvSpPr>
          <p:nvPr>
            <p:ph type="dt" sz="half" idx="10"/>
          </p:nvPr>
        </p:nvSpPr>
        <p:spPr/>
        <p:txBody>
          <a:bodyPr/>
          <a:lstStyle/>
          <a:p>
            <a:fld id="{EB7275DB-6D13-480B-AC77-F5019BDC5287}" type="datetime3">
              <a:rPr lang="en-US" smtClean="0"/>
              <a:t>22 September 2026</a:t>
            </a:fld>
            <a:endParaRPr lang="en-US"/>
          </a:p>
        </p:txBody>
      </p:sp>
      <p:sp>
        <p:nvSpPr>
          <p:cNvPr id="5" name="Footer Placeholder 4">
            <a:extLst>
              <a:ext uri="{FF2B5EF4-FFF2-40B4-BE49-F238E27FC236}">
                <a16:creationId xmlns:a16="http://schemas.microsoft.com/office/drawing/2014/main" id="{C3C2ECE1-707C-3722-4802-7005A1373744}"/>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C9410E56-A461-1216-CDFE-DD422A4AC613}"/>
              </a:ext>
            </a:extLst>
          </p:cNvPr>
          <p:cNvSpPr>
            <a:spLocks noGrp="1"/>
          </p:cNvSpPr>
          <p:nvPr>
            <p:ph type="sldNum" sz="quarter" idx="12"/>
          </p:nvPr>
        </p:nvSpPr>
        <p:spPr/>
        <p:txBody>
          <a:bodyPr/>
          <a:lstStyle/>
          <a:p>
            <a:fld id="{7B28076C-CE04-4A00-BFAA-A90EA8355859}" type="slidenum">
              <a:rPr lang="en-US" smtClean="0"/>
              <a:pPr/>
              <a:t>7</a:t>
            </a:fld>
            <a:endParaRPr lang="en-US"/>
          </a:p>
        </p:txBody>
      </p:sp>
      <p:cxnSp>
        <p:nvCxnSpPr>
          <p:cNvPr id="14" name="Straight Arrow Connector 13">
            <a:extLst>
              <a:ext uri="{FF2B5EF4-FFF2-40B4-BE49-F238E27FC236}">
                <a16:creationId xmlns:a16="http://schemas.microsoft.com/office/drawing/2014/main" id="{8ACD77C7-394C-DB5A-4DB7-8D8B7496832C}"/>
              </a:ext>
            </a:extLst>
          </p:cNvPr>
          <p:cNvCxnSpPr>
            <a:cxnSpLocks/>
          </p:cNvCxnSpPr>
          <p:nvPr/>
        </p:nvCxnSpPr>
        <p:spPr>
          <a:xfrm>
            <a:off x="2697480" y="2787680"/>
            <a:ext cx="6096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2B6C90DB-D71A-51B2-EA88-2A1C4F651705}"/>
              </a:ext>
            </a:extLst>
          </p:cNvPr>
          <p:cNvCxnSpPr>
            <a:cxnSpLocks/>
          </p:cNvCxnSpPr>
          <p:nvPr/>
        </p:nvCxnSpPr>
        <p:spPr>
          <a:xfrm>
            <a:off x="5176776" y="2834639"/>
            <a:ext cx="6096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6592C37D-9A87-8AB4-CE3F-D032D009FD37}"/>
              </a:ext>
            </a:extLst>
          </p:cNvPr>
          <p:cNvCxnSpPr>
            <a:cxnSpLocks/>
          </p:cNvCxnSpPr>
          <p:nvPr/>
        </p:nvCxnSpPr>
        <p:spPr>
          <a:xfrm flipH="1">
            <a:off x="4229100" y="4936884"/>
            <a:ext cx="6858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Connector: Elbow 27">
            <a:extLst>
              <a:ext uri="{FF2B5EF4-FFF2-40B4-BE49-F238E27FC236}">
                <a16:creationId xmlns:a16="http://schemas.microsoft.com/office/drawing/2014/main" id="{A960B6C2-F2DC-41FB-64E3-CA1A2CDD9A62}"/>
              </a:ext>
            </a:extLst>
          </p:cNvPr>
          <p:cNvCxnSpPr>
            <a:cxnSpLocks/>
          </p:cNvCxnSpPr>
          <p:nvPr/>
        </p:nvCxnSpPr>
        <p:spPr>
          <a:xfrm rot="5400000">
            <a:off x="7338786" y="3073974"/>
            <a:ext cx="1057942" cy="495515"/>
          </a:xfrm>
          <a:prstGeom prst="bentConnector3">
            <a:avLst>
              <a:gd name="adj1" fmla="val 99938"/>
            </a:avLst>
          </a:prstGeom>
          <a:ln>
            <a:tailEnd type="triangle"/>
          </a:ln>
        </p:spPr>
        <p:style>
          <a:lnRef idx="2">
            <a:schemeClr val="dk1"/>
          </a:lnRef>
          <a:fillRef idx="0">
            <a:schemeClr val="dk1"/>
          </a:fillRef>
          <a:effectRef idx="1">
            <a:schemeClr val="dk1"/>
          </a:effectRef>
          <a:fontRef idx="minor">
            <a:schemeClr val="tx1"/>
          </a:fontRef>
        </p:style>
      </p:cxnSp>
      <p:sp>
        <p:nvSpPr>
          <p:cNvPr id="48" name="Rectangle 47">
            <a:extLst>
              <a:ext uri="{FF2B5EF4-FFF2-40B4-BE49-F238E27FC236}">
                <a16:creationId xmlns:a16="http://schemas.microsoft.com/office/drawing/2014/main" id="{F500CBCC-0CC5-AE4A-BBC5-C2CB6B551436}"/>
              </a:ext>
            </a:extLst>
          </p:cNvPr>
          <p:cNvSpPr/>
          <p:nvPr/>
        </p:nvSpPr>
        <p:spPr>
          <a:xfrm>
            <a:off x="955485" y="2597232"/>
            <a:ext cx="1587183" cy="44669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b="1" dirty="0"/>
              <a:t>in </a:t>
            </a:r>
          </a:p>
        </p:txBody>
      </p:sp>
      <p:sp>
        <p:nvSpPr>
          <p:cNvPr id="54" name="Rectangle 53">
            <a:extLst>
              <a:ext uri="{FF2B5EF4-FFF2-40B4-BE49-F238E27FC236}">
                <a16:creationId xmlns:a16="http://schemas.microsoft.com/office/drawing/2014/main" id="{B3B01E1A-E0EE-AFCB-E417-C0A8CF87617F}"/>
              </a:ext>
            </a:extLst>
          </p:cNvPr>
          <p:cNvSpPr/>
          <p:nvPr/>
        </p:nvSpPr>
        <p:spPr>
          <a:xfrm>
            <a:off x="3460499" y="2572568"/>
            <a:ext cx="1561465" cy="44670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b="1" dirty="0" err="1"/>
              <a:t>Datasource</a:t>
            </a:r>
            <a:endParaRPr lang="en-US" sz="2000" b="1" dirty="0"/>
          </a:p>
        </p:txBody>
      </p:sp>
      <p:pic>
        <p:nvPicPr>
          <p:cNvPr id="58" name="Picture 57">
            <a:extLst>
              <a:ext uri="{FF2B5EF4-FFF2-40B4-BE49-F238E27FC236}">
                <a16:creationId xmlns:a16="http://schemas.microsoft.com/office/drawing/2014/main" id="{36A6E100-A731-3031-75B8-830F4519DC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712989"/>
            <a:ext cx="1675971" cy="841221"/>
          </a:xfrm>
          <a:prstGeom prst="rect">
            <a:avLst/>
          </a:prstGeom>
        </p:spPr>
      </p:pic>
      <p:sp>
        <p:nvSpPr>
          <p:cNvPr id="59" name="Rectangle 58">
            <a:extLst>
              <a:ext uri="{FF2B5EF4-FFF2-40B4-BE49-F238E27FC236}">
                <a16:creationId xmlns:a16="http://schemas.microsoft.com/office/drawing/2014/main" id="{E15F3735-EBA8-F8E0-B3DD-F2B34E978FF5}"/>
              </a:ext>
            </a:extLst>
          </p:cNvPr>
          <p:cNvSpPr/>
          <p:nvPr/>
        </p:nvSpPr>
        <p:spPr>
          <a:xfrm>
            <a:off x="6096000" y="2607150"/>
            <a:ext cx="1675971" cy="42449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b="1" dirty="0"/>
              <a:t>Database</a:t>
            </a:r>
          </a:p>
        </p:txBody>
      </p:sp>
      <p:sp>
        <p:nvSpPr>
          <p:cNvPr id="69" name="Rectangle 68">
            <a:extLst>
              <a:ext uri="{FF2B5EF4-FFF2-40B4-BE49-F238E27FC236}">
                <a16:creationId xmlns:a16="http://schemas.microsoft.com/office/drawing/2014/main" id="{BDCA0BDD-033D-662E-C764-E12E8790046D}"/>
              </a:ext>
            </a:extLst>
          </p:cNvPr>
          <p:cNvSpPr/>
          <p:nvPr/>
        </p:nvSpPr>
        <p:spPr>
          <a:xfrm>
            <a:off x="5102163" y="4676929"/>
            <a:ext cx="2362200" cy="51991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b="1" dirty="0"/>
              <a:t>Analytics Processing</a:t>
            </a:r>
          </a:p>
        </p:txBody>
      </p:sp>
      <p:pic>
        <p:nvPicPr>
          <p:cNvPr id="72" name="Picture 71">
            <a:extLst>
              <a:ext uri="{FF2B5EF4-FFF2-40B4-BE49-F238E27FC236}">
                <a16:creationId xmlns:a16="http://schemas.microsoft.com/office/drawing/2014/main" id="{D5659818-4C49-ED2F-9EF5-983B312777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3188" y="3476764"/>
            <a:ext cx="1200150" cy="1171114"/>
          </a:xfrm>
          <a:prstGeom prst="rect">
            <a:avLst/>
          </a:prstGeom>
        </p:spPr>
      </p:pic>
      <p:pic>
        <p:nvPicPr>
          <p:cNvPr id="82" name="Content Placeholder 81">
            <a:extLst>
              <a:ext uri="{FF2B5EF4-FFF2-40B4-BE49-F238E27FC236}">
                <a16:creationId xmlns:a16="http://schemas.microsoft.com/office/drawing/2014/main" id="{E63BEE25-AC5F-0181-0E06-658345E66F61}"/>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57200" y="1371600"/>
            <a:ext cx="8229600" cy="4204367"/>
          </a:xfrm>
          <a:prstGeom prst="rect">
            <a:avLst/>
          </a:prstGeom>
        </p:spPr>
      </p:pic>
    </p:spTree>
    <p:extLst>
      <p:ext uri="{BB962C8B-B14F-4D97-AF65-F5344CB8AC3E}">
        <p14:creationId xmlns:p14="http://schemas.microsoft.com/office/powerpoint/2010/main" val="3588097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D96FD-2C82-DF3F-59F3-FB9650519A1F}"/>
              </a:ext>
            </a:extLst>
          </p:cNvPr>
          <p:cNvSpPr>
            <a:spLocks noGrp="1"/>
          </p:cNvSpPr>
          <p:nvPr>
            <p:ph type="title"/>
          </p:nvPr>
        </p:nvSpPr>
        <p:spPr/>
        <p:txBody>
          <a:bodyPr>
            <a:normAutofit/>
          </a:bodyPr>
          <a:lstStyle/>
          <a:p>
            <a:r>
              <a:rPr lang="en-US" sz="3600" dirty="0"/>
              <a:t>MODULE IMPLEMENTATION</a:t>
            </a:r>
          </a:p>
        </p:txBody>
      </p:sp>
      <p:sp>
        <p:nvSpPr>
          <p:cNvPr id="3" name="Content Placeholder 2">
            <a:extLst>
              <a:ext uri="{FF2B5EF4-FFF2-40B4-BE49-F238E27FC236}">
                <a16:creationId xmlns:a16="http://schemas.microsoft.com/office/drawing/2014/main" id="{51CFA08B-7345-BAAA-0F09-E5DB5265B009}"/>
              </a:ext>
            </a:extLst>
          </p:cNvPr>
          <p:cNvSpPr>
            <a:spLocks noGrp="1"/>
          </p:cNvSpPr>
          <p:nvPr>
            <p:ph idx="1"/>
          </p:nvPr>
        </p:nvSpPr>
        <p:spPr>
          <a:xfrm>
            <a:off x="457200" y="1600200"/>
            <a:ext cx="8229600" cy="4648200"/>
          </a:xfrm>
        </p:spPr>
        <p:txBody>
          <a:bodyPr>
            <a:normAutofit fontScale="25000" lnSpcReduction="20000"/>
          </a:bodyPr>
          <a:lstStyle/>
          <a:p>
            <a:pPr lvl="0" algn="just"/>
            <a:endParaRPr lang="en-US" sz="2800" b="1" dirty="0"/>
          </a:p>
          <a:p>
            <a:pPr marL="0" lvl="0" indent="0" algn="just">
              <a:buNone/>
            </a:pPr>
            <a:r>
              <a:rPr lang="en-US" sz="7200" b="1" dirty="0"/>
              <a:t>1. Transaction Data Acquisition Module</a:t>
            </a:r>
          </a:p>
          <a:p>
            <a:pPr marL="0" lvl="0" indent="0" algn="just">
              <a:buNone/>
            </a:pPr>
            <a:r>
              <a:rPr lang="en-US" sz="6400" dirty="0"/>
              <a:t>Collects payment information such as transaction ID, amount, date, payment method, and       transaction status from different digital payment sources.</a:t>
            </a:r>
          </a:p>
          <a:p>
            <a:pPr marL="0" lvl="0" indent="0" algn="just">
              <a:buNone/>
            </a:pPr>
            <a:endParaRPr lang="en-US" sz="2800" b="1" dirty="0"/>
          </a:p>
          <a:p>
            <a:pPr marL="0" lvl="0" indent="0" algn="just">
              <a:buNone/>
            </a:pPr>
            <a:r>
              <a:rPr lang="en-US" sz="7200" b="1" dirty="0"/>
              <a:t>2. Data Cleaning &amp; Transformation Module</a:t>
            </a:r>
          </a:p>
          <a:p>
            <a:pPr marL="0" lvl="0" indent="0" algn="just">
              <a:buNone/>
            </a:pPr>
            <a:r>
              <a:rPr lang="en-US" sz="6400" dirty="0"/>
              <a:t>Removes duplicate or incorrect records, handles missing values, and converts raw transaction data into a structured format suitable for analysis.</a:t>
            </a:r>
          </a:p>
          <a:p>
            <a:pPr lvl="0" algn="just"/>
            <a:endParaRPr lang="en-US" sz="2800" b="1" dirty="0"/>
          </a:p>
          <a:p>
            <a:pPr marL="0" lvl="0" indent="0" algn="just">
              <a:buNone/>
            </a:pPr>
            <a:r>
              <a:rPr lang="en-US" sz="7200" b="1" dirty="0"/>
              <a:t>3. Payment Performance Analytics Module</a:t>
            </a:r>
          </a:p>
          <a:p>
            <a:pPr marL="0" lvl="0" indent="0" algn="just">
              <a:buNone/>
            </a:pPr>
            <a:r>
              <a:rPr lang="en-US" sz="6400" dirty="0"/>
              <a:t>Analyzes transaction volume, payment success rate, failed transactions, transaction amounts, and payment-method performance to identify important trends.</a:t>
            </a:r>
            <a:endParaRPr lang="en-US" sz="2800" b="1" dirty="0"/>
          </a:p>
          <a:p>
            <a:pPr lvl="0" algn="just"/>
            <a:endParaRPr lang="en-US" sz="2800" b="1" dirty="0"/>
          </a:p>
          <a:p>
            <a:pPr marL="0" lvl="0" indent="0" algn="just">
              <a:buNone/>
            </a:pPr>
            <a:r>
              <a:rPr lang="en-US" sz="7200" b="1" dirty="0"/>
              <a:t>4. Anomaly Detection &amp; Monitoring Module</a:t>
            </a:r>
          </a:p>
          <a:p>
            <a:pPr marL="0" lvl="0" indent="0" algn="just">
              <a:buNone/>
            </a:pPr>
            <a:r>
              <a:rPr lang="en-US" sz="6400" dirty="0"/>
              <a:t>Monitors transaction patterns and highlights unusual activities, unexpected changes, or suspicious transaction behavior for further investigation.</a:t>
            </a:r>
          </a:p>
          <a:p>
            <a:pPr marL="0" lvl="0" indent="0" algn="just">
              <a:buNone/>
            </a:pPr>
            <a:endParaRPr lang="en-US" sz="2800" b="1" dirty="0"/>
          </a:p>
          <a:p>
            <a:pPr marL="0" lvl="0" indent="0" algn="just">
              <a:buNone/>
            </a:pPr>
            <a:r>
              <a:rPr lang="en-US" sz="6200" b="1" dirty="0"/>
              <a:t>5. Interactive Visualization &amp; Reporting Module</a:t>
            </a:r>
          </a:p>
          <a:p>
            <a:pPr marL="0" lvl="0" indent="0" algn="just">
              <a:buNone/>
            </a:pPr>
            <a:r>
              <a:rPr lang="en-US" sz="6400" dirty="0"/>
              <a:t>Presents the analyzed information through dashboards, KPIs, charts, graphs, tables, filters, and reports, allowing users to understand transaction performance quickly.</a:t>
            </a:r>
          </a:p>
          <a:p>
            <a:pPr lvl="0" algn="just"/>
            <a:endParaRPr lang="en-US" sz="6400" dirty="0"/>
          </a:p>
          <a:p>
            <a:pPr lvl="0" algn="just"/>
            <a:endParaRPr lang="en-US" sz="6400" dirty="0"/>
          </a:p>
          <a:p>
            <a:pPr lvl="0" algn="just"/>
            <a:endParaRPr lang="en-US" sz="2800" b="1" dirty="0"/>
          </a:p>
          <a:p>
            <a:pPr lvl="0" algn="just"/>
            <a:r>
              <a:rPr lang="en-US" sz="2800" b="1" dirty="0"/>
              <a:t>L</a:t>
            </a:r>
            <a:endParaRPr lang="en-US" dirty="0"/>
          </a:p>
        </p:txBody>
      </p:sp>
      <p:sp>
        <p:nvSpPr>
          <p:cNvPr id="4" name="Date Placeholder 3">
            <a:extLst>
              <a:ext uri="{FF2B5EF4-FFF2-40B4-BE49-F238E27FC236}">
                <a16:creationId xmlns:a16="http://schemas.microsoft.com/office/drawing/2014/main" id="{2988206E-C510-7FAC-F517-CA2410D61829}"/>
              </a:ext>
            </a:extLst>
          </p:cNvPr>
          <p:cNvSpPr>
            <a:spLocks noGrp="1"/>
          </p:cNvSpPr>
          <p:nvPr>
            <p:ph type="dt" sz="half" idx="10"/>
          </p:nvPr>
        </p:nvSpPr>
        <p:spPr/>
        <p:txBody>
          <a:bodyPr/>
          <a:lstStyle/>
          <a:p>
            <a:fld id="{EB7275DB-6D13-480B-AC77-F5019BDC5287}" type="datetime3">
              <a:rPr lang="en-US" smtClean="0"/>
              <a:t>22 September 2026</a:t>
            </a:fld>
            <a:endParaRPr lang="en-US"/>
          </a:p>
        </p:txBody>
      </p:sp>
      <p:sp>
        <p:nvSpPr>
          <p:cNvPr id="5" name="Footer Placeholder 4">
            <a:extLst>
              <a:ext uri="{FF2B5EF4-FFF2-40B4-BE49-F238E27FC236}">
                <a16:creationId xmlns:a16="http://schemas.microsoft.com/office/drawing/2014/main" id="{0E0C7EEA-9B99-70C5-C39A-43040624CEAC}"/>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B426A301-E7AD-85AE-7EF2-ABD8F50F2C00}"/>
              </a:ext>
            </a:extLst>
          </p:cNvPr>
          <p:cNvSpPr>
            <a:spLocks noGrp="1"/>
          </p:cNvSpPr>
          <p:nvPr>
            <p:ph type="sldNum" sz="quarter" idx="12"/>
          </p:nvPr>
        </p:nvSpPr>
        <p:spPr/>
        <p:txBody>
          <a:bodyPr/>
          <a:lstStyle/>
          <a:p>
            <a:fld id="{7B28076C-CE04-4A00-BFAA-A90EA8355859}" type="slidenum">
              <a:rPr lang="en-US" smtClean="0"/>
              <a:pPr/>
              <a:t>8</a:t>
            </a:fld>
            <a:endParaRPr lang="en-US"/>
          </a:p>
        </p:txBody>
      </p:sp>
    </p:spTree>
    <p:extLst>
      <p:ext uri="{BB962C8B-B14F-4D97-AF65-F5344CB8AC3E}">
        <p14:creationId xmlns:p14="http://schemas.microsoft.com/office/powerpoint/2010/main" val="3624033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82E2B-CFE1-04E3-92B2-DC7D61BF0979}"/>
              </a:ext>
            </a:extLst>
          </p:cNvPr>
          <p:cNvSpPr>
            <a:spLocks noGrp="1"/>
          </p:cNvSpPr>
          <p:nvPr>
            <p:ph type="title"/>
          </p:nvPr>
        </p:nvSpPr>
        <p:spPr/>
        <p:txBody>
          <a:bodyPr>
            <a:normAutofit/>
          </a:bodyPr>
          <a:lstStyle/>
          <a:p>
            <a:r>
              <a:rPr lang="en-US" sz="3600" dirty="0"/>
              <a:t>RESULTS AND DISCUSSION</a:t>
            </a:r>
          </a:p>
        </p:txBody>
      </p:sp>
      <p:sp>
        <p:nvSpPr>
          <p:cNvPr id="3" name="Content Placeholder 2">
            <a:extLst>
              <a:ext uri="{FF2B5EF4-FFF2-40B4-BE49-F238E27FC236}">
                <a16:creationId xmlns:a16="http://schemas.microsoft.com/office/drawing/2014/main" id="{349B0F2B-51BE-0518-E7AA-DE15F1D14C94}"/>
              </a:ext>
            </a:extLst>
          </p:cNvPr>
          <p:cNvSpPr>
            <a:spLocks noGrp="1"/>
          </p:cNvSpPr>
          <p:nvPr>
            <p:ph idx="1"/>
          </p:nvPr>
        </p:nvSpPr>
        <p:spPr/>
        <p:txBody>
          <a:bodyPr>
            <a:normAutofit fontScale="25000" lnSpcReduction="20000"/>
          </a:bodyPr>
          <a:lstStyle/>
          <a:p>
            <a:pPr marL="0" indent="0" algn="just">
              <a:buNone/>
            </a:pPr>
            <a:r>
              <a:rPr lang="en-US" sz="9600" dirty="0"/>
              <a:t>The proposed Smart Digital Payment Transaction Analytics and Monitoring Dashboard successfully processes and analyzes transaction data. The dashboard displays transaction amounts, payment methods, dates, and transaction statuses clearly. It provides visual charts and graphs to identify transaction trends and patterns. Successful, failed, and pending transactions can be monitored easily through the dashboard. Interactive filters allow users to view specific transaction details quickly. The dashboard reduces manual effort and improves the efficiency of transaction monitoring. The visual presentation makes complex payment data easier to understand. The generated insights support faster and more informed decision-making. Overall, the system provides an effective and user-friendly platform for digital payment transaction analysis and monitoring.</a:t>
            </a:r>
          </a:p>
          <a:p>
            <a:endParaRPr lang="en-US" dirty="0"/>
          </a:p>
        </p:txBody>
      </p:sp>
      <p:sp>
        <p:nvSpPr>
          <p:cNvPr id="4" name="Date Placeholder 3">
            <a:extLst>
              <a:ext uri="{FF2B5EF4-FFF2-40B4-BE49-F238E27FC236}">
                <a16:creationId xmlns:a16="http://schemas.microsoft.com/office/drawing/2014/main" id="{BD7B7D9F-F637-6AE9-3747-5E82B01717DE}"/>
              </a:ext>
            </a:extLst>
          </p:cNvPr>
          <p:cNvSpPr>
            <a:spLocks noGrp="1"/>
          </p:cNvSpPr>
          <p:nvPr>
            <p:ph type="dt" sz="half" idx="10"/>
          </p:nvPr>
        </p:nvSpPr>
        <p:spPr/>
        <p:txBody>
          <a:bodyPr/>
          <a:lstStyle/>
          <a:p>
            <a:fld id="{EB7275DB-6D13-480B-AC77-F5019BDC5287}" type="datetime3">
              <a:rPr lang="en-US" smtClean="0"/>
              <a:t>22 September 2026</a:t>
            </a:fld>
            <a:endParaRPr lang="en-US"/>
          </a:p>
        </p:txBody>
      </p:sp>
      <p:sp>
        <p:nvSpPr>
          <p:cNvPr id="5" name="Footer Placeholder 4">
            <a:extLst>
              <a:ext uri="{FF2B5EF4-FFF2-40B4-BE49-F238E27FC236}">
                <a16:creationId xmlns:a16="http://schemas.microsoft.com/office/drawing/2014/main" id="{8FD97CA4-B59C-BFAC-3069-77842686171C}"/>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B42B04C4-9BD9-15F3-D225-25FF79434AA7}"/>
              </a:ext>
            </a:extLst>
          </p:cNvPr>
          <p:cNvSpPr>
            <a:spLocks noGrp="1"/>
          </p:cNvSpPr>
          <p:nvPr>
            <p:ph type="sldNum" sz="quarter" idx="12"/>
          </p:nvPr>
        </p:nvSpPr>
        <p:spPr/>
        <p:txBody>
          <a:bodyPr/>
          <a:lstStyle/>
          <a:p>
            <a:fld id="{7B28076C-CE04-4A00-BFAA-A90EA8355859}" type="slidenum">
              <a:rPr lang="en-US" smtClean="0"/>
              <a:pPr/>
              <a:t>9</a:t>
            </a:fld>
            <a:endParaRPr lang="en-US"/>
          </a:p>
        </p:txBody>
      </p:sp>
    </p:spTree>
    <p:extLst>
      <p:ext uri="{BB962C8B-B14F-4D97-AF65-F5344CB8AC3E}">
        <p14:creationId xmlns:p14="http://schemas.microsoft.com/office/powerpoint/2010/main" val="4172859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78F91-73E8-86A4-A1AD-65445211CE89}"/>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19F5A876-4A27-F909-3747-15E24A0EF1B1}"/>
              </a:ext>
            </a:extLst>
          </p:cNvPr>
          <p:cNvSpPr>
            <a:spLocks noGrp="1"/>
          </p:cNvSpPr>
          <p:nvPr>
            <p:ph idx="1"/>
          </p:nvPr>
        </p:nvSpPr>
        <p:spPr/>
        <p:txBody>
          <a:bodyPr>
            <a:normAutofit fontScale="92500" lnSpcReduction="20000"/>
          </a:bodyPr>
          <a:lstStyle/>
          <a:p>
            <a:pPr marL="0" indent="0" algn="just">
              <a:buNone/>
            </a:pPr>
            <a:r>
              <a:rPr lang="en-US" sz="2600" dirty="0"/>
              <a:t>The Smart Digital Payment Transaction Analytics and Monitoring Dashboard provides an efficient solution for managing and analyzing digital payment data. The system collects, processes, and visualizes transaction information through an interactive dashboard. It helps users monitor transaction status, payment trends, transaction volumes, and unusual activities. The use of charts, graphs, and key performance indicators makes complex data easier to understand. The system reduces manual analysis and saves time in monitoring large volumes of transactions. It also supports quick identification of failed or suspicious transactions for further investigation. The dashboard provides meaningful insights that can support effective data-driven decisions. Overall, the proposed system improves the efficiency, visibility, and organization of digital payment transaction monitoring.</a:t>
            </a:r>
          </a:p>
          <a:p>
            <a:endParaRPr lang="en-US" dirty="0"/>
          </a:p>
        </p:txBody>
      </p:sp>
      <p:sp>
        <p:nvSpPr>
          <p:cNvPr id="4" name="Date Placeholder 3">
            <a:extLst>
              <a:ext uri="{FF2B5EF4-FFF2-40B4-BE49-F238E27FC236}">
                <a16:creationId xmlns:a16="http://schemas.microsoft.com/office/drawing/2014/main" id="{41A0A785-E49B-6B9E-0BBD-577ADBEB95F0}"/>
              </a:ext>
            </a:extLst>
          </p:cNvPr>
          <p:cNvSpPr>
            <a:spLocks noGrp="1"/>
          </p:cNvSpPr>
          <p:nvPr>
            <p:ph type="dt" sz="half" idx="10"/>
          </p:nvPr>
        </p:nvSpPr>
        <p:spPr/>
        <p:txBody>
          <a:bodyPr/>
          <a:lstStyle/>
          <a:p>
            <a:fld id="{EB7275DB-6D13-480B-AC77-F5019BDC5287}" type="datetime3">
              <a:rPr lang="en-US" smtClean="0"/>
              <a:t>22 September 2026</a:t>
            </a:fld>
            <a:endParaRPr lang="en-US"/>
          </a:p>
        </p:txBody>
      </p:sp>
      <p:sp>
        <p:nvSpPr>
          <p:cNvPr id="5" name="Footer Placeholder 4">
            <a:extLst>
              <a:ext uri="{FF2B5EF4-FFF2-40B4-BE49-F238E27FC236}">
                <a16:creationId xmlns:a16="http://schemas.microsoft.com/office/drawing/2014/main" id="{531D7163-184B-8B4D-1FCC-AA75C8075925}"/>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7E8F7D32-A321-F9D9-3FA1-8FA9F6140FA6}"/>
              </a:ext>
            </a:extLst>
          </p:cNvPr>
          <p:cNvSpPr>
            <a:spLocks noGrp="1"/>
          </p:cNvSpPr>
          <p:nvPr>
            <p:ph type="sldNum" sz="quarter" idx="12"/>
          </p:nvPr>
        </p:nvSpPr>
        <p:spPr/>
        <p:txBody>
          <a:bodyPr/>
          <a:lstStyle/>
          <a:p>
            <a:fld id="{7B28076C-CE04-4A00-BFAA-A90EA8355859}" type="slidenum">
              <a:rPr lang="en-US" smtClean="0"/>
              <a:pPr/>
              <a:t>10</a:t>
            </a:fld>
            <a:endParaRPr lang="en-US"/>
          </a:p>
        </p:txBody>
      </p:sp>
    </p:spTree>
    <p:extLst>
      <p:ext uri="{BB962C8B-B14F-4D97-AF65-F5344CB8AC3E}">
        <p14:creationId xmlns:p14="http://schemas.microsoft.com/office/powerpoint/2010/main" val="3157276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29618-04A6-1A7B-A83C-737E4AEE5CFD}"/>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2D0280E6-5F72-B873-6D7B-F72DAACF2DDE}"/>
              </a:ext>
            </a:extLst>
          </p:cNvPr>
          <p:cNvSpPr>
            <a:spLocks noGrp="1"/>
          </p:cNvSpPr>
          <p:nvPr>
            <p:ph idx="1"/>
          </p:nvPr>
        </p:nvSpPr>
        <p:spPr/>
        <p:txBody>
          <a:bodyPr>
            <a:normAutofit/>
          </a:bodyPr>
          <a:lstStyle/>
          <a:p>
            <a:pPr algn="just"/>
            <a:r>
              <a:rPr lang="en-US" sz="2800" dirty="0" err="1"/>
              <a:t>Indumathi.J</a:t>
            </a:r>
            <a:r>
              <a:rPr lang="en-US" sz="2800" dirty="0"/>
              <a:t> (2025) Data Analytics: Transforming Data into Insights. 1st Edition, Cengage India. ISBN: 9789366601779</a:t>
            </a:r>
          </a:p>
        </p:txBody>
      </p:sp>
      <p:sp>
        <p:nvSpPr>
          <p:cNvPr id="4" name="Date Placeholder 3">
            <a:extLst>
              <a:ext uri="{FF2B5EF4-FFF2-40B4-BE49-F238E27FC236}">
                <a16:creationId xmlns:a16="http://schemas.microsoft.com/office/drawing/2014/main" id="{C4D55C5A-560D-DD65-0CBD-ED38D7055EDA}"/>
              </a:ext>
            </a:extLst>
          </p:cNvPr>
          <p:cNvSpPr>
            <a:spLocks noGrp="1"/>
          </p:cNvSpPr>
          <p:nvPr>
            <p:ph type="dt" sz="half" idx="10"/>
          </p:nvPr>
        </p:nvSpPr>
        <p:spPr/>
        <p:txBody>
          <a:bodyPr/>
          <a:lstStyle/>
          <a:p>
            <a:fld id="{EB7275DB-6D13-480B-AC77-F5019BDC5287}" type="datetime3">
              <a:rPr lang="en-US" smtClean="0"/>
              <a:t>22 September 2026</a:t>
            </a:fld>
            <a:endParaRPr lang="en-US"/>
          </a:p>
        </p:txBody>
      </p:sp>
      <p:sp>
        <p:nvSpPr>
          <p:cNvPr id="5" name="Footer Placeholder 4">
            <a:extLst>
              <a:ext uri="{FF2B5EF4-FFF2-40B4-BE49-F238E27FC236}">
                <a16:creationId xmlns:a16="http://schemas.microsoft.com/office/drawing/2014/main" id="{575FA84E-BCCC-2BAF-05F3-5A6E46B7C5AA}"/>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53DC5DFD-8968-6383-702E-A5E45340062F}"/>
              </a:ext>
            </a:extLst>
          </p:cNvPr>
          <p:cNvSpPr>
            <a:spLocks noGrp="1"/>
          </p:cNvSpPr>
          <p:nvPr>
            <p:ph type="sldNum" sz="quarter" idx="12"/>
          </p:nvPr>
        </p:nvSpPr>
        <p:spPr/>
        <p:txBody>
          <a:bodyPr/>
          <a:lstStyle/>
          <a:p>
            <a:fld id="{7B28076C-CE04-4A00-BFAA-A90EA8355859}" type="slidenum">
              <a:rPr lang="en-US" smtClean="0"/>
              <a:pPr/>
              <a:t>11</a:t>
            </a:fld>
            <a:endParaRPr lang="en-US"/>
          </a:p>
        </p:txBody>
      </p:sp>
    </p:spTree>
    <p:extLst>
      <p:ext uri="{BB962C8B-B14F-4D97-AF65-F5344CB8AC3E}">
        <p14:creationId xmlns:p14="http://schemas.microsoft.com/office/powerpoint/2010/main" val="1604633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THANK</a:t>
            </a:r>
            <a:r>
              <a:rPr lang="en-IN" dirty="0"/>
              <a:t> </a:t>
            </a:r>
            <a:r>
              <a:rPr lang="en-IN" sz="3600" dirty="0"/>
              <a:t>YOU</a:t>
            </a:r>
          </a:p>
        </p:txBody>
      </p:sp>
      <p:sp>
        <p:nvSpPr>
          <p:cNvPr id="3" name="Date Placeholder 2"/>
          <p:cNvSpPr>
            <a:spLocks noGrp="1"/>
          </p:cNvSpPr>
          <p:nvPr>
            <p:ph type="dt" sz="half" idx="10"/>
          </p:nvPr>
        </p:nvSpPr>
        <p:spPr/>
        <p:txBody>
          <a:bodyPr/>
          <a:lstStyle/>
          <a:p>
            <a:fld id="{9FE8A9F4-4DB3-4EF1-A315-68E41BB689F2}" type="datetime3">
              <a:rPr lang="en-US" smtClean="0"/>
              <a:t>22 September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12</a:t>
            </a:fld>
            <a:endParaRPr lang="en-US"/>
          </a:p>
        </p:txBody>
      </p:sp>
      <p:sp>
        <p:nvSpPr>
          <p:cNvPr id="6" name="Rectangle 5"/>
          <p:cNvSpPr/>
          <p:nvPr/>
        </p:nvSpPr>
        <p:spPr>
          <a:xfrm>
            <a:off x="609600" y="2690336"/>
            <a:ext cx="7918940" cy="1200329"/>
          </a:xfrm>
          <a:prstGeom prst="rect">
            <a:avLst/>
          </a:prstGeom>
        </p:spPr>
        <p:txBody>
          <a:bodyPr wrap="square">
            <a:spAutoFit/>
          </a:bodyPr>
          <a:lstStyle/>
          <a:p>
            <a:pPr algn="just"/>
            <a:r>
              <a:rPr lang="en-IN" sz="2400" dirty="0"/>
              <a:t>We thank God, Our Department, Guide, Panel Members, Supportive Professors and all Technical and non Technical staff who helped us in our Project.</a:t>
            </a:r>
          </a:p>
        </p:txBody>
      </p:sp>
    </p:spTree>
    <p:extLst>
      <p:ext uri="{BB962C8B-B14F-4D97-AF65-F5344CB8AC3E}">
        <p14:creationId xmlns:p14="http://schemas.microsoft.com/office/powerpoint/2010/main" val="111132939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6876</TotalTime>
  <Words>968</Words>
  <Application>Microsoft Office PowerPoint</Application>
  <PresentationFormat>On-screen Show (4:3)</PresentationFormat>
  <Paragraphs>111</Paragraphs>
  <Slides>12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Custom Design</vt:lpstr>
      <vt:lpstr>  </vt:lpstr>
      <vt:lpstr>AGENDA</vt:lpstr>
      <vt:lpstr>COURSE CERTIFICATE</vt:lpstr>
      <vt:lpstr> ABSTRACT </vt:lpstr>
      <vt:lpstr> INTRODUCTION </vt:lpstr>
      <vt:lpstr> OBJECTIVE </vt:lpstr>
      <vt:lpstr> SYSTEM ARCHITECTURE / IDEATION MAP </vt:lpstr>
      <vt:lpstr>MODULE IMPLEMENTATION</vt:lpstr>
      <vt:lpstr>RESULTS AND DISCUSSION</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Kowsik Dhanu</cp:lastModifiedBy>
  <cp:revision>122</cp:revision>
  <dcterms:created xsi:type="dcterms:W3CDTF">2019-11-06T07:48:53Z</dcterms:created>
  <dcterms:modified xsi:type="dcterms:W3CDTF">2026-09-22T13:23:38Z</dcterms:modified>
</cp:coreProperties>
</file>